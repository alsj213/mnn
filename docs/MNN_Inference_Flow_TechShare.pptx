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MNN 推理引擎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06060"/>
                </a:solidFill>
                <a:latin typeface="Microsoft YaHei"/>
              </a:defRPr>
            </a:pPr>
            <a:r>
              <a:t>模型加载、图优化、后端调度 与 推理执行 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840480"/>
            <a:ext cx="484632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基于 MNN 源码分析  |  FlatBuffers → Schedule → Pipeline → Backend →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097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MNN 总体架构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5331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核心组件与层级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27631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2763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模型加载 — .mnn 文件 → Net + Op + Tensor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883663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FlatBuffers 零拷贝解析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5798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1579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Schedule — Pipeline 构建与 Op 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14015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createRuntime + 全部Op编入Pipeline + initConstTensors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5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68833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图优化 — Pipeline::encode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44368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SizeComputer 形状推导 + GeometryComputer 算子分解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18687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218687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后端调度 — Pipeline::allocMemory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74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Execution 创建 + 跨后端 Copy + useCount 内存复用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7490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推理执行 — Pipeline::execute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0050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双层循环 onExecute + DIRECT/INDIRECT 模式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7939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279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核心数据结构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535424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Command / Tensor / Backend / PipelineInfo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809744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8097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端到端全流程总结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065776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5 阶段流水线 + 核心设计模式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1. MNN 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011680" cy="73152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173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API 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Interpreter (createSession / resizeSession / runSession)  +  Module (Express 动态图)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377439"/>
            <a:ext cx="2011680" cy="73152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145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调度层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688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Schedule 模型切分 → Pipeline 构建 → 全图 Tensor 映射 + 常量折叠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474720"/>
            <a:ext cx="2011680" cy="73152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118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管线层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5661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Pipeline: encode (图优化) → allocMemory (后端调度) → execute (推理执行)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572000"/>
            <a:ext cx="2011680" cy="73152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09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663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Backend 抽象 (CPU / GPU / NPU) → Execution 多态 (onResize + onExecute)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核心设计：数学变换 (encode) 与硬件调度 (allocMemory) 两阶段分离 → 同一模型可在 CPU/GPU/NPU 多种后端运行，CPU 自动兜底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2. 模型加载 — .mnn 文件 → Net + Op + Tensor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194560" cy="82296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model.mnn</a:t>
            </a:r>
            <a:br/>
            <a:r>
              <a:t>(FlatBuffers)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46120" y="1600200"/>
            <a:ext cx="32004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219456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FileLoader</a:t>
            </a:r>
            <a:br/>
            <a:r>
              <a:t>读文件头 + 验证魔数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9320" y="1600200"/>
            <a:ext cx="32004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19456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GetNet(buf)</a:t>
            </a:r>
            <a:br/>
            <a:r>
              <a:t>零拷贝反序列化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2520" y="1600200"/>
            <a:ext cx="320040" cy="27432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1371600"/>
            <a:ext cx="219456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1732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Net + Op[] +</a:t>
            </a:r>
            <a:br/>
            <a:r>
              <a:t>Tensor[] + Blob[]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5486400" cy="34747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// MNN.fbs — Net 定义 (schema/default/MNN.fbs:524)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table Net {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bizCode: string;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extraTensorDescribe: [TensorDescribe];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extraInfo: ExtraInfo;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oplists: [Op];              // 算子列表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outputName: [string];       // 输出名列表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preferForwardType: ForwardType = CPU;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sourceType: NetSource = CAFFE;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tensorName: [string];       // 全图张量名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tensorNumber: int = 0;      // 张量总数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usage: Usage = INFERENCE;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subgraphs: [SubGraphProto];  // 子图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mnn_uuid: string;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table Op {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type: OpType;               // Conv / MatMul / ...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main: OpParameter;          // 算子参数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inputIndexes: [int];        // 输入 Tensor ID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outputIndexes: [int];       // 输出 Tensor ID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defaultDimCount: int;       // 维度数量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5029200" cy="34747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// 关键技术点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1. FlatBuffers 零拷贝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模型文件 = 一段连续内存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不需要 JSON/XML 解析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按偏移量直接访问字段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GetNet(buf) 一个指针操作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2. NC4HW4 内存布局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Channel 维度按 4 对齐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为 ARM NEON 128-bit 设计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单指令同时处理 4×float32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3. Resource 懒加载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权重不立即读入内存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首帧推理时按需加载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减少冷启动时间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FlatBuffers 是 MNN 区别于 ONNX(Protobuf) 的关键选择 → 解析极快，适合移动端启动性能要求高的场景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2. 模型加载实例 — Conv + ReLU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4846320" cy="41148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698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模型逻辑结构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103120" cy="96012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19072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Conv2D</a:t>
            </a:r>
            <a:br/>
            <a:r>
              <a:t>3×3, S=1, P=1, 3ch→64ch</a:t>
            </a:r>
            <a:br/>
            <a:r>
              <a:t>持有 weight[64,3,3,3] + bias[64]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80360" y="2103120"/>
            <a:ext cx="182880" cy="18288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08960" y="1691640"/>
            <a:ext cx="2103120" cy="9601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719072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ReLU</a:t>
            </a:r>
            <a:br/>
            <a:r>
              <a:t>f(x)=max(0,x)</a:t>
            </a:r>
            <a:br/>
            <a:r>
              <a:t>逐元素, 无参数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4846320" cy="320040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7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Tensor 数据流转 (inputIndexes / outputIndexes):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Tensor[0]  input           NCHW [1, 3,   224, 224]   0.8 MB  (Usage: INPUT)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  │  Conv.inputIndexes  = [0, 2, 3]     ← input, weight, bias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  │  Conv.outputIndexes = [1]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Tensor[1]  conv_out        NCHW [1, 64,  112, 112]   0.8 MB  (Usage: NORMAL)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  │  ReLU.inputIndexes  = [1]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  │  ReLU.outputIndexes = [4]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Tensor[4]  relu_out        NCHW [1, 64,  112, 112]   0.8 MB  (Usage: OUTPUT)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Tensor[2] conv_w   Blob float32s  [64,3,3,3] = 1728 floats  (Usage: CONSTANT)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Tensor[3] conv_b   Blob float32s  [64]                      (Usage: CONSTANT)</a:t>
            </a: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27"/>
              </a:spcAft>
              <a:defRPr sz="850" b="0">
                <a:solidFill>
                  <a:srgbClr val="FFFFFF"/>
                </a:solidFill>
                <a:latin typeface="Microsoft YaHei"/>
              </a:defRPr>
            </a:pPr>
            <a:r>
              <a:t>2 Op, 4 Tensor (含权重), Conv 计算量 ~113 MFLOPS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051560"/>
            <a:ext cx="6035040" cy="411480"/>
          </a:xfrm>
          <a:prstGeom prst="roundRect">
            <a:avLst/>
          </a:prstGeom>
          <a:solidFill>
            <a:srgbClr val="E86A17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0698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FlatBuffers 加载后 — 连续 buffer 内存排布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1554480"/>
            <a:ext cx="6035040" cy="466344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// FileLoader::load("model.mnn") → char* buf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// GetNet(buf) → Net* (一个指针, 零拷贝)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char* buf 连续内存: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0x1000  Net {      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tensorName @ 0x2000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oplists    @ 0x1A00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outputName @ 0x2100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tensorNumber = 5 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usage = INFERENCE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0x1A00  Op[0] {    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type = Conv2D, defaultDimCount=4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inputIndexes:  [0, 2, 3]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outputIndexes: [1]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main @ 0x3000 → Convolution2D {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  kernelX=3, kernelY=3,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  strideX=1, strideY=1,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  padX=1, padY=1,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  outputCount=64, group=1  }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0x1A40  Op[1] {    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type = ReLU      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inputIndexes: [1], outputIndexes:[4] }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0x2000  tensorName:        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"input" "conv_out" "conv_w" "bias"│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0x2100  outputName: [  "relu_out"  ]│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├─────────────────────────────────────┤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0x3000  Convolution2D table   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0x3200  Blob: float32s (conv 权重)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│         64×3×3×3 = 1728 floats      │</a:t>
            </a:r>
          </a:p>
          <a:p>
            <a:pPr>
              <a:spcAft>
                <a:spcPts val="200"/>
              </a:spcAft>
              <a:defRPr sz="650">
                <a:solidFill>
                  <a:srgbClr val="9CDCBE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左: 逻辑有向图 (Op.inputIndexes/outputIndexes 描述数据流)   ↔   右: 物理连续 buffer (Net.tensorName/oplists → FlatBuffers offset 直接跳转, 零解析)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3. Schedule — Pipeline 构建与 Op 映射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50292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① createRuntime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按 config.type</a:t>
            </a:r>
            <a:br/>
            <a:r>
              <a:t>创建 Backend</a:t>
            </a:r>
            <a:br/>
            <a:r>
              <a:t>CPU 始终创建 (兜底)</a:t>
            </a:r>
            <a:br/>
            <a:r>
              <a:t>→ RuntimeInfo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6060"/>
                </a:solidFill>
                <a:latin typeface="Microsoft YaHei"/>
              </a:defRPr>
            </a:pPr>
            <a:r>
              <a:t>Schedule.cpp::schedule</a:t>
            </a:r>
            <a:br/>
            <a:r>
              <a:t>L110-180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188720"/>
            <a:ext cx="2743200" cy="502920"/>
          </a:xfrm>
          <a:prstGeom prst="roundRect">
            <a:avLst/>
          </a:prstGeom>
          <a:solidFill>
            <a:srgbClr val="E86A17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② 后端支持检查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遍历每个 Op</a:t>
            </a:r>
            <a:br/>
            <a:r>
              <a:t>Backend::onCreate 试创建</a:t>
            </a:r>
            <a:br/>
            <a:r>
              <a:t>支持 → 加入当前 Pipeline</a:t>
            </a:r>
            <a:br/>
            <a:r>
              <a:t>不支持 → 切分新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6060"/>
                </a:solidFill>
                <a:latin typeface="Microsoft YaHei"/>
              </a:defRPr>
            </a:pPr>
            <a:r>
              <a:t>每个 config 独立</a:t>
            </a:r>
            <a:br/>
            <a:r>
              <a:t>生成一个 PipelineInfo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743200" cy="5029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③ initConstTensors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遍历 CONSTANT Tensor</a:t>
            </a:r>
            <a:br/>
            <a:r>
              <a:t>必要时用 CPU 预计算</a:t>
            </a:r>
            <a:br/>
            <a:r>
              <a:t>结果写入 STATIC 内存</a:t>
            </a:r>
            <a:br/>
            <a:r>
              <a:t>后续 execute 直接读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6060"/>
                </a:solidFill>
                <a:latin typeface="Microsoft YaHei"/>
              </a:defRPr>
            </a:pPr>
            <a:r>
              <a:t>Schedule::_scheduleUnit</a:t>
            </a:r>
            <a:br/>
            <a:r>
              <a:t>L290-330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188720"/>
            <a:ext cx="2743200" cy="502920"/>
          </a:xfrm>
          <a:prstGeom prst="roundRect">
            <a:avLst/>
          </a:prstGeom>
          <a:solidFill>
            <a:srgbClr val="9CDCBE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④ 构建 Session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82880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PipelineInfo[] → Session</a:t>
            </a:r>
            <a:br/>
            <a:r>
              <a:t>每个 Pipeline:</a:t>
            </a:r>
            <a:br/>
            <a:r>
              <a:t>  pair&lt;BackendCache,</a:t>
            </a:r>
            <a:br/>
            <a:r>
              <a:t>        vector&lt;OpCacheInfo&gt;&gt;</a:t>
            </a:r>
            <a:br/>
            <a:r>
              <a:t>Session 持有所有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06060"/>
                </a:solidFill>
                <a:latin typeface="Microsoft YaHei"/>
              </a:defRPr>
            </a:pPr>
            <a:r>
              <a:t>Interpreter::createSession</a:t>
            </a:r>
            <a:br/>
            <a:r>
              <a:t>L180-220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4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Schedule::schedule 核心逻辑 (Schedule.cpp:291-331):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for (auto&amp; config : configs) {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  auto oplists = _scheduleUnit(net, config, allTensors);   // ← 返回 ★所有★ Op, 按原始顺序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  result.emplace_back({backendCache, oplists});            // ← 每个 config 产生一个 Pipeline, 包含全部 Op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}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关键: Schedule 不做 Op 粒度切分! 每个 Pipeline 包含全部 Op, 后端分配在 allocMemory._createExecutions 阶段逐 Op 试探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Schedule 的职责: 按 config 创建 Pipeline, 每个 Pipeline 包含全部 Op → 后端分配、跨后端 Copy 由 allocMemory 阶段处理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3. Schedule 实例 — 同一 Pipeline, 逐 Op 后端分配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36576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allocMemory._createExecutions: 逐 Op 试探后端 (Pipeline.cpp)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274320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9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原 Op 顺序: Conv → Softmax → BN → ReLU → Pool → FC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_createExecutions 4 层优先级逐 Op 试探: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Conv    → GPU.onCreate ✓ → GPU Execution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Softmax → GPU.onCreate ✗ → CPU 兜底 → CPU Execution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BN      → GPU.onCreate ✗ → CPU 兜底 → CPU Execution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ReLU    → GPU.onCreate ✓ → GPU Execution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Pool    → GPU.onCreate ✓ → GPU Execution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FC      → GPU.onCreate ✗ → CPU 兜底 → CPU Execution</a:t>
            </a: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99"/>
              </a:spcAft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结果: 同一个 Pipeline 内, GPU/CPU Execution 混合, 顺序不变!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65760"/>
          </a:xfrm>
          <a:prstGeom prst="roundRect">
            <a:avLst/>
          </a:prstGeom>
          <a:solidFill>
            <a:srgbClr val="E86A17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15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allocMemory._InsertCopy: 跨后端自动插入 Copy (Pipeline.cpp)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486400" cy="274320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_InsertCopy 检测每个 Execution 的 I/O Tensor 归属: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Conv(GPU).output → Softmax(CPU).input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→ 生产者 GPU, 消费者 CPU, 不同!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→ 插入 Copy Command (GPU→CPU)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BN(CPU).output → ReLU(GPU).input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→ 插入 Copy Command (CPU→GPU)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Pool(GPU).output → FC(CPU).input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→ 插入 Copy Command (GPU→CPU)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CONSTANT Tensor: 立即拷贝; 非 CONSTANT: 插入延迟 Copy</a:t>
            </a:r>
          </a:p>
          <a:p>
            <a:pPr>
              <a:spcAft>
                <a:spcPts val="179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每次 execute 只拷贝有脏标记的数据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47120" cy="16459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4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Pipeline::execute 执行顺序 (同一个 Pipeline, 一趟串行):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Conv(GPU) → [Copy GPU→CPU] → Softmax(CPU) → BN(CPU) → [Copy CPU→GPU] → ReLU(GPU) → Pool(GPU) → [Copy GPU→CPU] → FC(CPU)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顺序保证三重机制: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1. 原始 Op 数组顺序 (generateScheduleGraph 按 net-&gt;oplists() 遍历, 不打乱)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2. initPipelineInfosFromOps 按 ops 顺序追加 OpCacheInfo, 不丢弃任何 Op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3. Pipeline::execute 内层 for 循环串行, Tensor 数据依赖自然串起执行顺序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正确理解: 不是切分多个 Pipeline, 而是同一 Pipeline 内逐 Op 后端分配 + 自动 Copy 中转 → 原始顺序天然保证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4. 图优化 — Pipeline::encode (纯数学变换, 不依赖硬件)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形状推导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70+ SizeComputer 子类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每个算子一个数学公式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Conv: Oh=(Ih-Kh+2P)/S+1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Pool/MatMul/BinaryOp ...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找不到 → 拷贝 inputs[0] 形状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280160"/>
            <a:ext cx="3474720" cy="548640"/>
          </a:xfrm>
          <a:prstGeom prst="roundRect">
            <a:avLst/>
          </a:prstGeom>
          <a:solidFill>
            <a:srgbClr val="E86A17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298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算子分解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高阶 Op → 低阶 Command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Conv → Im2Col + MatMul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Concat → Region → Raster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逐元素 Op → 1:1 透传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(等待 opFuse 融合)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280160"/>
            <a:ext cx="3474720" cy="548640"/>
          </a:xfrm>
          <a:prstGeom prst="roundRect">
            <a:avLst/>
          </a:prstGeom>
          <a:solidFill>
            <a:srgbClr val="9CDCBE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9844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常量折叠 &amp; 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01168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CONSTANT Op 提前 CPU 执行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结果写入 STATIC 内存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脏标记链避免重复计算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opFuse: GPU 逐元素融合</a:t>
            </a:r>
          </a:p>
          <a:p>
            <a:pPr>
              <a:spcAft>
                <a:spcPts val="72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(MNN_BUILD_CODEGEN)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78992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OpResizeCache 增量检测: match(inputs) 逐项比对上次输入形状 → 形状未变则跳过 SizeCompute → 大幅减少动态模型 resize 开销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encode 是 MNN 独有的「图编译」阶段 → ONNX Runtime 的 Graph::Resolve + GraphOptimizer 的混合体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4. 图优化实例 — Conv+BN+ReLU encode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572000" cy="41148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encode 前: 原始模型图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280160" cy="86868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1907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Conv2D</a:t>
            </a:r>
            <a:br/>
            <a:r>
              <a:t>k=3,s=2,p=1</a:t>
            </a:r>
            <a:br/>
            <a:r>
              <a:t>3ch→64ch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56231" y="2029968"/>
            <a:ext cx="128016" cy="146304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1680" y="1691640"/>
            <a:ext cx="1280160" cy="86868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171907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BatchNorm</a:t>
            </a:r>
            <a:br/>
            <a:r>
              <a:t>mean,var</a:t>
            </a:r>
            <a:br/>
            <a:r>
              <a:t>scale,bias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319272" y="2029968"/>
            <a:ext cx="128016" cy="146304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74720" y="1691640"/>
            <a:ext cx="1280160" cy="86868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719072"/>
            <a:ext cx="1280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icrosoft YaHei"/>
              </a:defRPr>
            </a:pPr>
            <a:r>
              <a:t>ReLU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920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encode</a:t>
            </a:r>
            <a:br/>
            <a:r>
              <a:t>───&gt;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97280"/>
            <a:ext cx="5303520" cy="411480"/>
          </a:xfrm>
          <a:prstGeom prst="roundRect">
            <a:avLst/>
          </a:prstGeom>
          <a:solidFill>
            <a:srgbClr val="E86A17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11556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encode 后: 3 步变换结果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91640"/>
            <a:ext cx="1645920" cy="21031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17190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1. 形状推导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0116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Microsoft YaHei"/>
              </a:defRPr>
            </a:pPr>
            <a:r>
              <a:t>ConvSizeComputer:</a:t>
            </a:r>
            <a:br/>
            <a:r>
              <a:t>Oh=(224-3+2)/2+1=112</a:t>
            </a:r>
            <a:br/>
            <a:r>
              <a:t>→ [1,64,112,112]</a:t>
            </a:r>
            <a:br/>
            <a:r>
              <a:t>BN/ReLU: 逐层推导</a:t>
            </a:r>
            <a:br/>
            <a:r>
              <a:t>所有 Tensor 形状确定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06060"/>
                </a:solidFill>
                <a:latin typeface="Microsoft YaHei"/>
              </a:defRPr>
            </a:pPr>
            <a:r>
              <a:t>SizeComputerSuite</a:t>
            </a:r>
            <a:br/>
            <a:r>
              <a:t>::search(OpType)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19" y="1691640"/>
            <a:ext cx="1645920" cy="21031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7190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2. 算子分解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0116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Microsoft YaHei"/>
              </a:defRPr>
            </a:pPr>
            <a:r>
              <a:t>Conv2D → 3 个 Command:</a:t>
            </a:r>
            <a:br/>
            <a:r>
              <a:t>① Im2Col (数据重排, 0 FLOP)</a:t>
            </a:r>
            <a:br/>
            <a:r>
              <a:t>② MatMul (21.7M MAC)</a:t>
            </a:r>
            <a:br/>
            <a:r>
              <a:t>③ BiasAdd (加偏置)</a:t>
            </a:r>
            <a:br/>
            <a:r>
              <a:t>FLOPs 不变, GEMM 密集计算</a:t>
            </a:r>
            <a:br/>
            <a:r>
              <a:t>NEON 单指令 4×float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06060"/>
                </a:solidFill>
                <a:latin typeface="Microsoft YaHei"/>
              </a:defRPr>
            </a:pPr>
            <a:r>
              <a:t>GeometryComputer</a:t>
            </a:r>
            <a:br/>
            <a:r>
              <a:t>::compute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1691640"/>
            <a:ext cx="1645920" cy="21031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04120" y="17190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3. 常量折叠 &amp; 融合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20116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Microsoft YaHei"/>
              </a:defRPr>
            </a:pPr>
            <a:r>
              <a:t>BN 是 CONSTANT Op:</a:t>
            </a:r>
            <a:br/>
            <a:r>
              <a:t>  CPU 提前算 mean/var/scale</a:t>
            </a:r>
            <a:br/>
            <a:r>
              <a:t>  折叠进 Conv 权重/偏置</a:t>
            </a:r>
            <a:br/>
            <a:r>
              <a:t>  → BN 执行时直接跳过!</a:t>
            </a:r>
            <a:br/>
            <a:r>
              <a:t>ReLU → Conv.relu=true 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474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606060"/>
                </a:solidFill>
                <a:latin typeface="Microsoft YaHei"/>
              </a:defRPr>
            </a:pPr>
            <a:r>
              <a:t>encode 阶段的</a:t>
            </a:r>
            <a:br/>
            <a:r>
              <a:t>CPU 预计算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69080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4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encode 的收益: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原始 (逐 Op 执行):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[Conv2D] → 中间结果写回内存 → [BatchNorm] → 读+算+写回 → [ReLU] → 读+算+写回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每个 Op 各自读输入、写输出, 特征图 (64×112×112=3.2MB) 被反复搬运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encode 后: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算子分解: 直接卷积 21.7M MAC → Im2Col+GEMM 同样 21.7M MAC, 但 GEMM 密集 + NEON SIMD → ~4× 实际执行提速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常量折叠: BN 参数预先融进 Conv 权重, 消除 BN 的读写 → 省 2 次特征图遍历 (~6.4MB 内存访问)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  算子融合: ReLU 内联到 Conv (relu=true), 消除 ReLU 的读写 → 再省 2 次特征图遍历 (~6.4MB 内存访问)</a:t>
            </a: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134"/>
              </a:spcAft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合计: FLOPs 不变 (43.4M), 但 GEMM 密集 + SIMD → ~4× 加速; 折叠+融合 消除 ~12.8MB 内存访问; 整体推理延迟大幅下降!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encode 的威力: 数学变换完全独立于硬件, 编译期做完所有「纸上推演」→ allocMemory 只需关心内存和执行, execute 只需跑最简 Command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5. 后端调度 — Pipeline::allocMemory (硬件相关)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74320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阶段1: _createExecutions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4层优先级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1) executionCache (O(1)命中)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2) KV Cache 克隆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3) 主 Backend::onCreate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4) CPU 兜底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Raster / BinaryOp</a:t>
            </a:r>
          </a:p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不缓存 (形状敏感)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280160"/>
            <a:ext cx="274320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阶段2: _SetTensorBackend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标记归属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遍历 Execution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标记 I/O Tensor 的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所属 Backend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跳过 Copy 算子的 Tensor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74320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阶段3: _InsertCopy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跨后端 Wrap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needWrap() 检测跨后端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CONSTANT → 立即拷贝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非常量 → 插入 Copy Command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workInputs 在此被替换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每次 execute 只拷贝</a:t>
            </a:r>
          </a:p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有脏标记的数据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280160"/>
            <a:ext cx="274320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29844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阶段4: _allocForTensor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202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A17"/>
                </a:solidFill>
                <a:latin typeface="Microsoft YaHei"/>
              </a:defRPr>
            </a:pPr>
            <a:r>
              <a:t>useCount 内存复用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28600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统计引用计数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归零 → 申请内存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递减 → 释放复用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三种类型: STATIC /</a:t>
            </a:r>
          </a:p>
          <a:p>
            <a:pPr>
              <a:spcAft>
                <a:spcPts val="55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DYNAMIC_SEPERATE / DYNAMIC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1206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峰值内存 = 最大同时</a:t>
            </a:r>
          </a:p>
          <a:p>
            <a:pPr>
              <a:spcAft>
                <a:spcPts val="300"/>
              </a:spcAft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存活 Tensor 之和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allocMemory 把 encode 的数学结果「落地」到具体硬件和内存 → SessionState::FinalizeSessionState 的对应阶段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6. 推理执行 — Pipeline::execute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943600" cy="457200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// Pipeline::execute() — Session::run → for each Pipeline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ErrorCode Pipeline::execute() {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_copyInputs();          // ① host→device 输入拷贝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_enterExecute();        // ② Backend::onExecuteBegin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for (auto&amp; info : mInfo.second) {     // 遍历 OpCacheInfo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    if (CONSTANT == info.type) continue; // 跳过 (已折叠)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    for (auto&amp; cmd : info.executeBuffer.command) {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        // ★ 虚函数多态 — 核心执行点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        cmd-&gt;execution-&gt;onExecute(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            cmd-&gt;workInputs,   // 物理输入 (_InsertCopy 后)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            cmd-&gt;workOutputs); // 物理输出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    _exitExecute();          // ③ Backend::onExecuteEnd</a:t>
            </a:r>
          </a:p>
          <a:p>
            <a:pPr>
              <a:spcAft>
                <a:spcPts val="200"/>
              </a:spcAft>
              <a:defRPr sz="1100">
                <a:solidFill>
                  <a:srgbClr val="9CDCB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280160"/>
            <a:ext cx="4846320" cy="21031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371600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两种执行模式: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DIRECT (CPU 默认):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onExecute 被调用 → 直接计算完成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例: CPU 卷积, 进出函数即算完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INDIRECT (GPU 使用):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onExecute → 录制命令到队列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onExecuteBegin → 批量提交 GPU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onExecuteEnd → 等待完成/取回结果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好处: 减少 CPU-GPU 通信开销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3566160"/>
            <a:ext cx="4846320" cy="228600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36576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1">
                <a:solidFill>
                  <a:srgbClr val="9CDCBE"/>
                </a:solidFill>
                <a:latin typeface="Microsoft YaHei"/>
              </a:defRPr>
            </a:pPr>
            <a:r>
              <a:t>Command 结构: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struct Command {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  const Op* op;            // 算子描述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  vector&lt;Tensor*&gt; inputs;  // 逻辑引用 (不变)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  vector&lt;Tensor*&gt; outputs;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  vector&lt;Tensor*&gt; workInputs; // 物理执行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  vector&lt;Tensor*&gt; workOutputs;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  shared_ptr&lt;Execution&gt; execution;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  int group;               // 内存分组标记</a:t>
            </a:r>
          </a:p>
          <a:p>
            <a:pPr>
              <a:spcAft>
                <a:spcPts val="330"/>
              </a:spcAft>
              <a:defRPr sz="1100" b="0">
                <a:solidFill>
                  <a:srgbClr val="9CDCBE"/>
                </a:solidFill>
                <a:latin typeface="Microsoft YaHei"/>
              </a:defRPr>
            </a:pPr>
            <a: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execute 是「真正跑计算」的地方 — Session 持有多个 Pipeline, 每个 Pipeline 持有 N 个 Command, 每个 Command 持有 1 个 Execution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7. 核心数据结构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286000" cy="45720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数据结构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280160"/>
            <a:ext cx="3657600" cy="45720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12984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定义位置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303520" cy="45720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984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职责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22860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Net / Op / Tensor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828800"/>
            <a:ext cx="36576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87451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schema/default/MNN.fbs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530352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7451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模型格式: 算子类型 + 参数 + I/O ID + 权重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22860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585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Interpreter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212848"/>
            <a:ext cx="36576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258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include/MNN/Interpreter.hpp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12848"/>
            <a:ext cx="530352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2585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门面 API: createSession / resizeSession / runSession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596896"/>
            <a:ext cx="22860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4261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Schedule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2596896"/>
            <a:ext cx="36576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64261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source/core/Schedule.cpp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2596896"/>
            <a:ext cx="530352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4261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模型切分: createRuntime → initTensors → _scheduleUnit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80944"/>
            <a:ext cx="22860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02666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Session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2980944"/>
            <a:ext cx="36576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40" y="302666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source/core/Session.cpp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2980944"/>
            <a:ext cx="530352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3026663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会话管理: mPipelines + mNeedResize/mNeedMalloc 两阶段标记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64991"/>
            <a:ext cx="22860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41071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Pipeline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0" y="3364991"/>
            <a:ext cx="36576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341071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source/core/Pipeline.cpp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364991"/>
            <a:ext cx="530352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1071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管线引擎: encode + allocMemory + execute 三阶段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749039"/>
            <a:ext cx="22860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7947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Backend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3749039"/>
            <a:ext cx="36576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7947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source/core/Backend.hpp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3749039"/>
            <a:ext cx="530352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37947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后端抽象: onCreate (工厂) + onAcquireBuffer (内存)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133087"/>
            <a:ext cx="22860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178807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Execution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4133087"/>
            <a:ext cx="36576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417880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source/core/Execution.hpp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4133087"/>
            <a:ext cx="530352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4178807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算子执行器: virtual onResize() + onExecute() = 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517136"/>
            <a:ext cx="22860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562855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SizeComputer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0" y="4517136"/>
            <a:ext cx="36576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34640" y="4562855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source/shape/SizeComputer.cpp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0" y="4517136"/>
            <a:ext cx="530352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4562855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形状推导: 70+ 子类 × 每个算子的数学公式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4901183"/>
            <a:ext cx="22860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9469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Command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0" y="4901183"/>
            <a:ext cx="36576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34640" y="4946903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source/core/Command.hpp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4901183"/>
            <a:ext cx="530352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92240" y="4946903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执行单元: op + inputs/outputs + workInputs + execution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285231"/>
            <a:ext cx="22860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330951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OpCacheInfo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0" y="5285231"/>
            <a:ext cx="36576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5330951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source/core/Schedule.hpp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0" y="5285231"/>
            <a:ext cx="530352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92240" y="5330951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运行时缓存: executeBuffer + computeCache + executionCache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5669280"/>
            <a:ext cx="22860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715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PipelineInfo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43200" y="5669280"/>
            <a:ext cx="365760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834640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source/core/Schedule.hpp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00800" y="5669280"/>
            <a:ext cx="5303520" cy="356616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492240" y="5715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子图结构: pair&lt;BackendCache, vector&lt;OpCacheInfo&gt;&gt;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6053328"/>
            <a:ext cx="22860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609904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RuntimeInfo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743200" y="6053328"/>
            <a:ext cx="365760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34640" y="6099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source/core/Session.hpp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00800" y="6053328"/>
            <a:ext cx="5303520" cy="356616"/>
          </a:xfrm>
          <a:prstGeom prst="roundRect">
            <a:avLst/>
          </a:prstGeom>
          <a:solidFill>
            <a:srgbClr val="353535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92240" y="60990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06060"/>
                </a:solidFill>
                <a:latin typeface="Microsoft YaHei"/>
              </a:defRPr>
            </a:pPr>
            <a:r>
              <a:t>多后端环境: map&lt;Type, Runtime&gt; + 默认 CPU Runtime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060"/>
                </a:solidFill>
                <a:latin typeface="Microsoft YaHei"/>
              </a:defRPr>
            </a:pPr>
            <a:r>
              <a:t>MNN 的核心数据结构围绕「一次推理的执行单元」展开 → Command 是原子操作，Pipeline 是执行容器，Session 是生命周期管理者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78D4"/>
                </a:solidFill>
                <a:latin typeface="Microsoft YaHei"/>
              </a:defRPr>
            </a:pPr>
            <a:r>
              <a:t>8. 端到端全流程总结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417320" cy="82296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41732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model.mnn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83080" y="1536192"/>
            <a:ext cx="164592" cy="2286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1371600"/>
            <a:ext cx="141732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41732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FlatBuffers</a:t>
            </a:r>
            <a:br/>
            <a:r>
              <a:t>解析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74720" y="1536192"/>
            <a:ext cx="164592" cy="2286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1371600"/>
            <a:ext cx="141732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1732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Schedule</a:t>
            </a:r>
            <a:br/>
            <a:r>
              <a:t>切分子图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166360" y="1536192"/>
            <a:ext cx="164592" cy="2286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49240" y="1371600"/>
            <a:ext cx="141732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41732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encode</a:t>
            </a:r>
            <a:br/>
            <a:r>
              <a:t>图优化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58000" y="1536192"/>
            <a:ext cx="164592" cy="2286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0" y="1371600"/>
            <a:ext cx="141732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41732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allocMemory</a:t>
            </a:r>
            <a:br/>
            <a:r>
              <a:t>后端调度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549640" y="1536192"/>
            <a:ext cx="164592" cy="2286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1371600"/>
            <a:ext cx="141732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41732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execute</a:t>
            </a:r>
            <a:br/>
            <a:r>
              <a:t>推理执行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241280" y="1536192"/>
            <a:ext cx="164592" cy="228600"/>
          </a:xfrm>
          <a:prstGeom prst="rightArrow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60" y="1371600"/>
            <a:ext cx="1417320" cy="82296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1417320"/>
            <a:ext cx="1417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结果</a:t>
            </a:r>
            <a:br/>
            <a:r>
              <a:t>Tensor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468880"/>
            <a:ext cx="274320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注册-查找 分离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SizeComputerSuite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search(OpType) O(1)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Backend::onCreate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工厂模式多态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ExecutionCache 复用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2468880"/>
            <a:ext cx="2743200" cy="548640"/>
          </a:xfrm>
          <a:prstGeom prst="roundRect">
            <a:avLst/>
          </a:prstGeom>
          <a:solidFill>
            <a:srgbClr val="E86A17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图与执行解耦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encode 只看数学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不碰硬件 Backend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allocMemory 只看硬件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不碰形状逻辑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静态模型跳过 Geometry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468880"/>
            <a:ext cx="2743200" cy="548640"/>
          </a:xfrm>
          <a:prstGeom prst="roundRect">
            <a:avLst/>
          </a:prstGeom>
          <a:solidFill>
            <a:srgbClr val="9CDCBE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内存生命周期管理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useCount 引用计数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每次 allocMemory 重算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归零即释放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三种类型分层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fixResizeCache 保护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89720" y="2468880"/>
            <a:ext cx="2743200" cy="548640"/>
          </a:xfrm>
          <a:prstGeom prst="roundRect">
            <a:avLst/>
          </a:prstGeom>
          <a:solidFill>
            <a:srgbClr val="0078D4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多层 Fallback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20040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CPU 始终兜底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GPU 不支持→自动回退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异步调优 + 缓存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_InsertCopy 自动</a:t>
            </a:r>
          </a:p>
          <a:p>
            <a:pPr>
              <a:spcAft>
                <a:spcPts val="33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处理跨后端传输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5943600"/>
            <a:ext cx="5760720" cy="7315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200"/>
              </a:spcAft>
              <a:defRPr sz="1000">
                <a:solidFill>
                  <a:srgbClr val="9CDCBE"/>
                </a:solidFill>
                <a:latin typeface="Consolas"/>
              </a:defRPr>
            </a:pPr>
            <a:r>
              <a:t>// 注册 (编译期)                         // 查找 (运行时)</a:t>
            </a:r>
          </a:p>
          <a:p>
            <a:pPr>
              <a:spcAft>
                <a:spcPts val="200"/>
              </a:spcAft>
              <a:defRPr sz="1000">
                <a:solidFill>
                  <a:srgbClr val="9CDCBE"/>
                </a:solidFill>
                <a:latin typeface="Consolas"/>
              </a:defRPr>
            </a:pPr>
            <a:r>
              <a:t>REGISTER_SHAPE(OpType_Conv, ConvSizeComputer); → SizeComputerSuite::search(OpType_Conv)</a:t>
            </a:r>
          </a:p>
          <a:p>
            <a:pPr>
              <a:spcAft>
                <a:spcPts val="200"/>
              </a:spcAft>
              <a:defRPr sz="1000">
                <a:solidFill>
                  <a:srgbClr val="9CDCBE"/>
                </a:solidFill>
                <a:latin typeface="Consolas"/>
              </a:defRPr>
            </a:pPr>
            <a:r>
              <a:t>Backend::onCreate(inputs, outputs, op);        → ExecutionCache::find(op)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943600"/>
            <a:ext cx="5303520" cy="731520"/>
          </a:xfrm>
          <a:prstGeom prst="roundRect">
            <a:avLst/>
          </a:prstGeom>
          <a:solidFill>
            <a:srgbClr val="2D2D2D"/>
          </a:solidFill>
          <a:ln w="635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>
              <a:spcAft>
                <a:spcPts val="200"/>
              </a:spcAft>
              <a:defRPr sz="1000">
                <a:solidFill>
                  <a:srgbClr val="9CDCBE"/>
                </a:solidFill>
                <a:latin typeface="Consolas"/>
              </a:defRPr>
            </a:pPr>
            <a:r>
              <a:t>// MNN 独有的 encode/allocMemory 两阶段设计</a:t>
            </a:r>
          </a:p>
          <a:p>
            <a:pPr>
              <a:spcAft>
                <a:spcPts val="200"/>
              </a:spcAft>
              <a:defRPr sz="1000">
                <a:solidFill>
                  <a:srgbClr val="9CDCBE"/>
                </a:solidFill>
                <a:latin typeface="Consolas"/>
              </a:defRPr>
            </a:pPr>
            <a:r>
              <a:t>encode:     纯数学, 不依赖硬件, 可离线静态化</a:t>
            </a:r>
          </a:p>
          <a:p>
            <a:pPr>
              <a:spcAft>
                <a:spcPts val="200"/>
              </a:spcAft>
              <a:defRPr sz="1000">
                <a:solidFill>
                  <a:srgbClr val="9CDCBE"/>
                </a:solidFill>
                <a:latin typeface="Consolas"/>
              </a:defRPr>
            </a:pPr>
            <a:r>
              <a:t>allocMemory: 纯硬件, 不关心形状, 专注于性能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06060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0" y="4389120"/>
            <a:ext cx="4572000" cy="182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Microsoft YaHei"/>
              </a:defRPr>
            </a:pPr>
            <a:r>
              <a:t>github.com/alibaba/MNN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基于 MNN 源码分析 | FlatBuffers → Schedule → Pipeline → Backend →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