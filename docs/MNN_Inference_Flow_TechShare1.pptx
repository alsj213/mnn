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MNN 模型推理流程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2FF"/>
                </a:solidFill>
                <a:latin typeface="Microsoft YaHei"/>
              </a:defRPr>
            </a:pPr>
            <a:r>
              <a:t>从模型文件到推理结果，中间到底发生了什么？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972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推理引擎是做什么的？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用一个生活类比快速理解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1">
                <a:solidFill>
                  <a:srgbClr val="212529"/>
                </a:solidFill>
                <a:latin typeface="Microsoft YaHei"/>
              </a:defRPr>
            </a:pPr>
            <a:r>
              <a:t>想象一个厨房流水线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1. 拿到菜谱（模型文件）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   → 读一下里面写了什么菜、什么步骤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2. 分配合适的厨师（调度）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   → 热菜师傅炒, 冷菜师傅切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   → 没人做的菜给备用厨师兜底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3. 合并简单步骤（图优化）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   → "切葱 + 切姜" 合并成 "切葱姜"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   → 算出每道菜的备料量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4. 开火做菜（执行）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   → 按菜谱顺序, 一道一道上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5. 摆盘上桌（输出结果）</a:t>
            </a:r>
          </a:p>
          <a:p>
            <a:pPr>
              <a:spcAft>
                <a:spcPts val="360"/>
              </a:spcAft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   → 尝一口, 确认味道对了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120640" cy="43891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1">
                <a:solidFill>
                  <a:srgbClr val="CDD6F4"/>
                </a:solidFill>
                <a:latin typeface="Microsoft YaHei"/>
              </a:defRPr>
            </a:pPr>
            <a:r>
              <a:t>对应到推理引擎: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菜谱 → 模型文件 (MNN/ONNX)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   FlatBuffers 格式, 包含算子 + 权重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厨师 → 后端 (CPU/GPU/NPU)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   ARM CPU 做卷积, GPU 做并行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备料/合并 → 图优化 resize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   形状推导 + 算子合并 + 常量预计算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开火 → 推理执行 execute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   每个算子 onExecute, 数据在 Tensor 间流转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摆盘 → Tensor → 分类/检测结果</a:t>
            </a:r>
          </a:p>
          <a:p>
            <a:pPr>
              <a:spcAft>
                <a:spcPts val="360"/>
              </a:spcAft>
              <a:defRPr sz="1200" b="0">
                <a:solidFill>
                  <a:srgbClr val="CDD6F4"/>
                </a:solidFill>
                <a:latin typeface="Microsoft YaHei"/>
              </a:defRPr>
            </a:pPr>
            <a:r>
              <a:t>   取出最后一层的输出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推理引擎 = 模型的 JIT 编译器 + 运行时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五阶段推理流水线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从模型加载到输出结果 — 只需 5 步 API 调用</a:t>
            </a:r>
          </a:p>
        </p:txBody>
      </p:sp>
      <p:pic>
        <p:nvPicPr>
          <p:cNvPr id="5" name="Picture 4" descr="mnn_pp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阶段1: 模型加载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把模型文件读进来，理解里面有什么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57200" cy="4572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81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529"/>
                </a:solidFill>
                <a:latin typeface="Microsoft YaHei"/>
              </a:defRPr>
            </a:pPr>
            <a:r>
              <a:t>读取文件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74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FileLoader 打开 .mnn 文件</a:t>
            </a:r>
            <a:br/>
            <a:r>
              <a:t>读取文件头, 验证魔数 (MNN 特征码)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C757D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457200" cy="4572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35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529"/>
                </a:solidFill>
                <a:latin typeface="Microsoft YaHei"/>
              </a:defRPr>
            </a:pPr>
            <a:r>
              <a:t>解析结构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FlatBuffers 反序列化</a:t>
            </a:r>
            <a:br/>
            <a:r>
              <a:t>Net/Op/Tensor/Blob 共12张表</a:t>
            </a:r>
            <a:br/>
            <a:r>
              <a:t>零拷贝: 直接映射内存, 不复制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6118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C757D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457200" cy="4572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45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90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529"/>
                </a:solidFill>
                <a:latin typeface="Microsoft YaHei"/>
              </a:defRPr>
            </a:pPr>
            <a:r>
              <a:t>建立索引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83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Interpreter 持有完整模型图</a:t>
            </a:r>
            <a:br/>
            <a:r>
              <a:t>Tensor index → Tensor* 映射表</a:t>
            </a:r>
            <a:br/>
            <a:r>
              <a:t>权重懒加载: 用到时才读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463040"/>
            <a:ext cx="4572000" cy="4572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关键概念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FlatBuffers: 零拷贝序列化格式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模型文件 = 一段连续内存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不需要解析, 直接按偏移量访问字段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启动速度极快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NC4HW4 内存布局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通道维度按4对齐 (Channel/4)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为 ARM NEON 128-bit 指令优化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一条指令同时处理 4 个 float32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MNN.fbs 定义了12张核心表: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Net: 模型顶层, 包含 Op/Tensor 列表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Op: 算子定义 (类型 + 参数 + 输入输出 ID)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Tensor: 数据容器 (形状 + 数据类型 + 数据)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Blob: 权重数据存储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阶段2: Session 创建 &amp; 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把模型切分成适合硬件执行的子图, 并分配后端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54864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 </a:t>
            </a:r>
            <a:br/>
            <a:r>
              <a:t>创建</a:t>
            </a:r>
            <a:br/>
            <a:r>
              <a:t>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Backend 工厂</a:t>
            </a:r>
            <a:br/>
            <a:r>
              <a:t>CPU/GPU/NPU</a:t>
            </a:r>
            <a:br/>
            <a:r>
              <a:t>各创建一个实例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757D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0116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81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 </a:t>
            </a:r>
            <a:br/>
            <a:r>
              <a:t>预置</a:t>
            </a:r>
            <a:br/>
            <a:r>
              <a:t>常量层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CONSTANT 算子</a:t>
            </a:r>
            <a:br/>
            <a:r>
              <a:t>提前CPU执行</a:t>
            </a:r>
            <a:br/>
            <a:r>
              <a:t>权重按须加载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757D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463040"/>
            <a:ext cx="2011680" cy="5486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81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 </a:t>
            </a:r>
            <a:br/>
            <a:r>
              <a:t>建立</a:t>
            </a:r>
            <a:br/>
            <a:r>
              <a:t>Tensor表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945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全图 Tensor 映射</a:t>
            </a:r>
            <a:br/>
            <a:r>
              <a:t>补齐形状</a:t>
            </a:r>
            <a:br/>
            <a:r>
              <a:t>标记 I/O 类型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757D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63040"/>
            <a:ext cx="2011680" cy="548640"/>
          </a:xfrm>
          <a:prstGeom prst="round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481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 </a:t>
            </a:r>
            <a:br/>
            <a:r>
              <a:t>切分</a:t>
            </a:r>
            <a:br/>
            <a:r>
              <a:t>子图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945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Path 切分</a:t>
            </a:r>
            <a:br/>
            <a:r>
              <a:t>每个子图 = 一个</a:t>
            </a:r>
            <a:br/>
            <a: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757D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463040"/>
            <a:ext cx="2011680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481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 </a:t>
            </a:r>
            <a:br/>
            <a:r>
              <a:t>常量</a:t>
            </a:r>
            <a:br/>
            <a:r>
              <a:t>折叠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1945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提前计算常量</a:t>
            </a:r>
            <a:br/>
            <a:r>
              <a:t>避免运行时重复</a:t>
            </a:r>
            <a:br/>
            <a:r>
              <a:t>breakIndex 切割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5029200" cy="25603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1480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核心数据结构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RuntimeInfo: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map&lt;硬件类型, Runtime实例&gt;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例: {CPU: cpu_rt, GPU: gpu_rt} + 默认 CPU 兜底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PipelineInfo: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每个Pipeline = 一个 Backend + 一组算子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模型被切成多个 Pipeline (按不同 Backend 分开)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OpCacheInfo: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每个算子 = {Command列表, 形状缓存, Execution缓存}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31920"/>
            <a:ext cx="530352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CDD6F4"/>
                </a:solidFill>
                <a:latin typeface="Microsoft YaHei"/>
              </a:defRPr>
            </a:pPr>
            <a:r>
              <a:t>调度策略 — 异构 != 自动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MNN 不会自动选择 Backend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用户需要明确指定配置: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• ScheduleConfig: 指定哪些 Op 走哪个 Backend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• Path: 按 Op 名称/类型切分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CDD6F4"/>
                </a:solidFill>
                <a:latin typeface="Microsoft YaHei"/>
              </a:defRPr>
            </a:pPr>
            <a:r>
              <a:t>CPU 自动兜底: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如果 GPU/NPU 不支持某个算子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→ _createExecutions 自动回退到 CPU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CDD6F4"/>
                </a:solidFill>
                <a:latin typeface="Microsoft YaHei"/>
              </a:defRPr>
            </a:pPr>
            <a:r>
              <a:t>调优缓存: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首次推理: 异步 GPU tuning → 写入文件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后续推理: 直接读缓存, 秒级启动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阶段3: resize 图优化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不涉及硬件, 纯数学变换 — 形状推导 + 算子分解 + 常量预计算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" cy="36576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89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529"/>
                </a:solidFill>
                <a:latin typeface="Microsoft YaHei"/>
              </a:defRPr>
            </a:pPr>
            <a:r>
              <a:t>形状推导: 算出每一层的尺寸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55648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输入图片 224×224, 经过 Conv(Padding=1, Kernel=3, Stride=2) 后输出多大?</a:t>
            </a:r>
            <a:br/>
            <a:r>
              <a:t>→ SizeComputer 用数学公式自动算出: 输出 = 112×112</a:t>
            </a:r>
            <a:br/>
            <a:r>
              <a:t>→ 类似计算: Pool、MatMul、Reshape 各对应一个专用的 SizeComputer 子类</a:t>
            </a:r>
            <a:br/>
            <a:r>
              <a:t>→ 70+ 种算子 × 1 个数学公式 = 纯数学, 不依赖任何硬件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35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35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529"/>
                </a:solidFill>
                <a:latin typeface="Microsoft YaHei"/>
              </a:defRPr>
            </a:pPr>
            <a:r>
              <a:t>算子分解: 复杂操作拆成基本操作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01568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卷积(Conv) 本身不是硬件指令, 需要拆成基础操作:</a:t>
            </a:r>
            <a:br/>
            <a:r>
              <a:t>  Conv → Im2Col (把图像拉成矩阵) + MatMul (矩阵乘法)</a:t>
            </a:r>
            <a:br/>
            <a:r>
              <a:t>  Concat → Region (区域拼接) → Raster (内存填充)</a:t>
            </a:r>
            <a:br/>
            <a:r>
              <a:t>  逐元素操作 1:1 透传 (ReLU、Add、Mul 保持不变)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365760" cy="3657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8172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817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529"/>
                </a:solidFill>
                <a:latin typeface="Microsoft YaHei"/>
              </a:defRPr>
            </a:pPr>
            <a:r>
              <a:t>常量折叠: 提前算好, 不浪费推理时间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047488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如果模型的第10层是一个 常量除法 (除以255归一化):</a:t>
            </a:r>
            <a:br/>
            <a:r>
              <a:t>  → encode阶段直接 CPU 算完</a:t>
            </a:r>
            <a:br/>
            <a:r>
              <a:t>  → 结果写入 STATIC 内存</a:t>
            </a:r>
            <a:br/>
            <a:r>
              <a:t>  → 推理时跳过这层, 直接读结果</a:t>
            </a:r>
            <a:br/>
            <a:r>
              <a:t>效果: 减少重复计算, 特别是多次 resize 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943600"/>
            <a:ext cx="10515600" cy="640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9893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额外优化: opFuse (算子融合) — GPU 专用, BinaryOp/ReLU/Eltwise 融合成单个 GPU kernel, 减少显存读写</a:t>
            </a:r>
          </a:p>
          <a:p>
            <a:pPr>
              <a:spcAft>
                <a:spcPts val="330"/>
              </a:spcAft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静态模型优化: 如果模型标记为 Usage_INFERENCE_STATIC, 所有形状在导出时已知, 完全跳过图优化, 启动速度更快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阶段4: allocMemory 内存分配 &amp; 异构处理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创建执行器、处理跨后端拷贝、分配内存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529"/>
                </a:solidFill>
                <a:latin typeface="Microsoft YaHei"/>
              </a:defRPr>
            </a:pPr>
            <a:r>
              <a:t>创建每个算子的执行器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executionCache(O(1) 命中) → KV Cache 克隆 → 主 Backend 创建 → CPU 兜底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每个算子对应一个 Execution 对象</a:t>
            </a:r>
            <a:br/>
            <a:r>
              <a:t>onResize() 在此时调用来分配临时缓冲区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81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529"/>
                </a:solidFill>
                <a:latin typeface="Microsoft YaHei"/>
              </a:defRPr>
            </a:pPr>
            <a:r>
              <a:t>跨后端自动插 Copy 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47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GPU 上的 Conv 需要 CPU 上 Pool 的输出 → 自动插入 Copy</a:t>
            </a:r>
            <a:br/>
            <a:r>
              <a:t>CONSTANT 立即拷贝; 非常量创建代理 Tensor 标记脏位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每次 execute 只拷贝有脏标记的数据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45720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36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8172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529"/>
                </a:solidFill>
                <a:latin typeface="Microsoft YaHei"/>
              </a:defRPr>
            </a:pPr>
            <a:r>
              <a:t>引用计数内存复用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474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统计每个 Tensor 被多少个算子引用</a:t>
            </a:r>
            <a:br/>
            <a:r>
              <a:t>引用计数归零 → 内存释放, 可被其他 Tensor 复用</a:t>
            </a:r>
            <a:br/>
            <a:r>
              <a:t>三种内存: STATIC(永不释放) / DYNAMIC_SEPERATE(输入/权重) / DYNAMIC(中间量)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峰值内存 = 同时存活的 Tensor 之和</a:t>
            </a:r>
            <a:br/>
            <a:r>
              <a:t>不是全部分配完再执行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035040"/>
            <a:ext cx="5029200" cy="640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1081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内存复用: 不是一次性分配所有内存, 而是用的时候申请, 用完立即释放给下一个算子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阶段5: 推理执行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遍历每个算子, 逐个执行 — 这是真正跑计算的地方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执行流程 (核心三步骤):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1. _copyInputs()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把用户输入数据复制到后端内存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(比如把图片从 CPU 内存搬到 GPU 显存)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有脏标记才拷贝, 避免重复传输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2. 双层循环执行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模型 → 被切成多个 Pipeline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  每个 Pipeline → 包含 N 个 Command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    每个 Command → execution-&gt;onExecute()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(最外层 Session 持有多个 Pipeline)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12529"/>
                </a:solidFill>
                <a:latin typeface="Microsoft YaHei"/>
              </a:defRPr>
            </a:pPr>
            <a:r>
              <a:t>3. _exitExecute()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通知硬件执行结束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GPU: 等待所有命令完成</a:t>
            </a:r>
          </a:p>
          <a:p>
            <a:pPr>
              <a:spcAft>
                <a:spcPts val="330"/>
              </a:spcAft>
              <a:defRPr sz="1100" b="0">
                <a:solidFill>
                  <a:srgbClr val="212529"/>
                </a:solidFill>
                <a:latin typeface="Microsoft YaHei"/>
              </a:defRPr>
            </a:pPr>
            <a:r>
              <a:t>   CPU: 通常是空操作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CDD6F4"/>
                </a:solidFill>
                <a:latin typeface="Microsoft YaHei"/>
              </a:defRPr>
            </a:pPr>
            <a:r>
              <a:t>为什么是双层循环?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Session (1个)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├─ Pipeline 1 (GPU 子图)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│   ├─ Command: Conv → 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│   ├─ Command: ReLU → 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│   └─ Command: Copy → 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├─ Pipeline 2 (CPU 子图)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│   ├─ Command: Pool → 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│   └─ Command: Reshape → 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└─ Pipeline 3 (GPU 子图)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    ├─ Command: MatMul → 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      └─ Command: Softmax → onExecute()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原因: 不同的 Backend 对应不同的 Pipeline</a:t>
            </a:r>
          </a:p>
          <a:p>
            <a:pPr>
              <a:spcAft>
                <a:spcPts val="330"/>
              </a:spcAft>
              <a:defRPr sz="1100" b="0">
                <a:solidFill>
                  <a:srgbClr val="CDD6F4"/>
                </a:solidFill>
                <a:latin typeface="Microsoft YaHei"/>
              </a:defRPr>
            </a:pPr>
            <a:r>
              <a:t>Pipeline 内部 Command 按拓扑顺序排列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51560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12529"/>
                </a:solidFill>
                <a:latin typeface="Microsoft YaHei"/>
              </a:defRPr>
            </a:pPr>
            <a:r>
              <a:t>onExecute() 的两种模式: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212529"/>
                </a:solidFill>
                <a:latin typeface="Microsoft YaHei"/>
              </a:defRPr>
            </a:pPr>
            <a:r>
              <a:t>DIRECT 直接模式 (CPU 的默认模式):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  <a:r>
              <a:t>  onExecute() 被调用 → 立即在当前线程/线程池中计算完成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  <a:r>
              <a:t>  例: CPU 卷积, 进函数时数据就在手中, 出函数时结果已算好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212529"/>
                </a:solidFill>
                <a:latin typeface="Microsoft YaHei"/>
              </a:defRPr>
            </a:pPr>
            <a:r>
              <a:t>INDIRECT 间接模式 (GPU 使用的模式):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  <a:r>
              <a:t>  onExecute() 被调用 → 只录制命令到队列, 不立即计算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  <a:r>
              <a:t>  onExecuteBegin() → 提交所有录制命令到 GPU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  <a:r>
              <a:t>  onExecuteEnd() → 等待 GPU 执行完成, 取回结果</a:t>
            </a:r>
          </a:p>
          <a:p>
            <a:pPr>
              <a:spcAft>
                <a:spcPts val="300"/>
              </a:spcAft>
              <a:defRPr sz="1000" b="0">
                <a:solidFill>
                  <a:srgbClr val="212529"/>
                </a:solidFill>
                <a:latin typeface="Microsoft YaHei"/>
              </a:defRPr>
            </a:pPr>
            <a:r>
              <a:t>  好处: GPU 可以批量提交, 减少 CPU-GPU 通信开销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529"/>
                </a:solidFill>
                <a:latin typeface="Microsoft YaHei"/>
              </a:defRPr>
            </a:pPr>
            <a:r>
              <a:t>MNN 为什么轻量高效? 四大核心技术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支撑超大规模模型在移动端流畅运行的关键设计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4114800"/>
          </a:xfrm>
          <a:prstGeom prst="round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数学与硬件分离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EE"/>
                </a:solidFill>
                <a:latin typeface="Microsoft YaHei"/>
              </a:defRPr>
            </a:pPr>
            <a:r>
              <a:t>encode 只做数学变换, 不碰硬件</a:t>
            </a:r>
            <a:br/>
            <a:r>
              <a:t>allocMemory 才涉及 Backend</a:t>
            </a:r>
            <a:br/>
            <a:r>
              <a:t>→ 形状推导可离线, 省运行时开销</a:t>
            </a:r>
            <a:br/>
            <a:r>
              <a:t>→ 静态模型完全跳过 Geometry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51760" cy="411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引用计数内存复用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93392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EE"/>
                </a:solidFill>
                <a:latin typeface="Microsoft YaHei"/>
              </a:defRPr>
            </a:pPr>
            <a:r>
              <a:t>Tensor 用 useCount 统计引用</a:t>
            </a:r>
            <a:br/>
            <a:r>
              <a:t>用后即释, 下一个算子复用</a:t>
            </a:r>
            <a:br/>
            <a:r>
              <a:t>→ 峰值内存远低于全量分配</a:t>
            </a:r>
            <a:br/>
            <a:r>
              <a:t>→ 大模型 (如 LLM) 才能在手机上跑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51760" cy="41148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190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异构 Backend 自动兜底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93392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EE"/>
                </a:solidFill>
                <a:latin typeface="Microsoft YaHei"/>
              </a:defRPr>
            </a:pPr>
            <a:r>
              <a:t>CPU 始终作为 fallback</a:t>
            </a:r>
            <a:br/>
            <a:r>
              <a:t>GPU 不支持某算子 → 自动切回 CPU</a:t>
            </a:r>
            <a:br/>
            <a:r>
              <a:t>_InsertCopy 自动处理跨后端传输</a:t>
            </a:r>
            <a:br/>
            <a:r>
              <a:t>→ 用户不用管哪层走哪个硬件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371600"/>
            <a:ext cx="2651760" cy="4114800"/>
          </a:xfrm>
          <a:prstGeom prst="round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7190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算子融合 &amp; 常量折叠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93392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EE"/>
                </a:solidFill>
                <a:latin typeface="Microsoft YaHei"/>
              </a:defRPr>
            </a:pPr>
            <a:r>
              <a:t>GPU 上多个逐元素 Op 融合成 1 个</a:t>
            </a:r>
            <a:br/>
            <a:r>
              <a:t>CONSTANT 提前执行, 只算一次</a:t>
            </a:r>
            <a:br/>
            <a:r>
              <a:t>→ 减少显存/内存读写次数</a:t>
            </a:r>
            <a:br/>
            <a:r>
              <a:t>→ 推理延迟显著降低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943600"/>
            <a:ext cx="10515600" cy="640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60167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529"/>
                </a:solidFill>
                <a:latin typeface="Microsoft YaHei"/>
              </a:defRPr>
            </a:pPr>
            <a:r>
              <a:t>一句话总结: MNN 就像一台微型 JIT 编译器 — 读模型(源码) → 优化(编译优化) → 执行(机器码), 但全程面向神经网络算子, 专为移动端设计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AA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457200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Microsoft YaHei"/>
              </a:defRPr>
            </a:pPr>
            <a:r>
              <a:t>github.com/alibaba/MNN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